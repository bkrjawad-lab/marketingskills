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457200"/>
            <a:ext cx="3383280" cy="338328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280160"/>
            <a:ext cx="2468880" cy="2468880"/>
          </a:xfrm>
          <a:prstGeom prst="ellipse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4297680"/>
            <a:ext cx="1828800" cy="1828800"/>
          </a:xfrm>
          <a:prstGeom prst="ellipse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704088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4400" b="1">
                <a:solidFill>
                  <a:srgbClr val="FFFFFF"/>
                </a:solidFill>
                <a:latin typeface="Arial"/>
              </a:defRPr>
              <a:rtl val="1"/>
            </a:pPr>
            <a:r>
              <a:t>صِلة دوائي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7680960" cy="12344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3100" b="1">
                <a:solidFill>
                  <a:srgbClr val="37C2BE"/>
                </a:solidFill>
                <a:latin typeface="Arial"/>
              </a:defRPr>
              <a:rtl val="1"/>
            </a:pPr>
            <a:r>
              <a:t>«من تطبيق توصيل إلى شبكة دواء موثوقة»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49039"/>
            <a:ext cx="67665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  <a:latin typeface="Arial"/>
              </a:defRPr>
              <a:rtl val="1"/>
            </a:pPr>
            <a:r>
              <a:t>الخطة التسويقية والاستراتيجية للنمو في العراق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5943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500" b="0">
                <a:solidFill>
                  <a:srgbClr val="F5EFE2"/>
                </a:solidFill>
                <a:latin typeface="Arial"/>
              </a:defRPr>
              <a:rtl val="1"/>
            </a:pPr>
            <a:r>
              <a:t>بغداد → البصرة / النجف / كربلاء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000" b="0">
                <a:solidFill>
                  <a:srgbClr val="37C2BE"/>
                </a:solidFill>
                <a:latin typeface="Arial"/>
              </a:defRPr>
            </a:pPr>
            <a:r>
              <a:t>2 أيلول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6080760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الفرصة والمشكلة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رحلة المواطن الحالية: اتصال/مشوار/عدم توفر/دفع نقدي/قلق مصدر.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لماذا الآن: استخدام رقمي مرتفع، لكن الثقة والتنسيق غير مكتملين.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يجعل المشكلة إنسانية وقابلة للقياس.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ما هي صِلة؟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رسم الثلاثة: مريض ↔ صيدلية ↔ كابتن، وقلبها التشغيل/الصيدلي.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بحث، وصفة، عروض، اختيار، توصيل، COD.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يشرح المنظومة في لقطة واحدة.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القيمة المضافة والتموضع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«شبكة صيدليات موثقة، لا متجر واحد ولا دليفري عام».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أعمدة: ثقة، توفر، اختيار، صيدلي، تتبع.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يجيب لماذا صِلة ولماذا الآن.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287000" cy="594360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32120"/>
            <a:ext cx="9829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  <a:rtl val="1"/>
            </a:pPr>
            <a:r>
              <a:t>التموضع: شبكة صيدليات موثّقة، لا متجر واحد ولا دليفري عام.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شرائح العملاء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مدير الأسرة، المزمن/مقدم الرعاية، المستخدم الرقمي، العاجل الحضري.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Jobs-to-be-done ومخاوف كل شريحة.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يمنع حملة واحدة للجميع.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المنافسة والميزة الدفاعية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مصفوفة: واتساب/صيدلية منفردة/تطبيق عام/صِلة على محاور الثقة والتوفر والمقارنة والتتبع.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تظهر أن المنافس الحقيقي ليس تطبيقاً واحداً بل العادة الحالية.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الثقة والامتثال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اعتماد صيدلية، مراجعة وصفة، خصوصية، سلسلة حفظ، COD، تصعيد.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«للخطر الطبي: طوارئ، وليس التطبيق».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تحول الخطر الصحي إلى أصل علامة.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287000" cy="594360"/>
          </a:xfrm>
          <a:prstGeom prst="round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32120"/>
            <a:ext cx="9829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  <a:rtl val="1"/>
            </a:pPr>
            <a:r>
              <a:t>الثقة ليست حملة إعلانية؛ إنها نظام تشغيل.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خطة الإطلاق الجغرافي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عنقود بغداد → كثافة عرض → طلب محلي → توسيع مشروط.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مراحل 0/1/2/3 ومددها.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واقعية تشغيلية بدلاً من وعد «كل العراق» فوراً.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محرك الصيدليات والكباتن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مبيعات ميدانية، تفعيل في الموقع، حوافز، تدريب، تسويات.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تعالج مشكلة السوق الثنائية: لا طلب بلا عرض ولا عرض بلا طلب.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محرك المستخدمين والمحتوى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Facebook/Instagram/TikTok/WhatsApp/Field، الحملات الخمس، اللهجة والقيود.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يربط الرسالة بالقناة وبالخطوة المطلوبة.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القياس والاقتصاد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North Star، قمع، لوحة مؤشرات، أهداف 90 يوماً، قواعد عدم التوسع.</a:t>
            </a:r>
          </a:p>
          <a:p>
            <a:pPr algn="r" marL="420">
              <a:spcAft>
                <a:spcPts val="1200"/>
              </a:spcAft>
              <a:defRPr sz="22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يحول التسويق من تنزيلات إلى طلبات آمنة مربحة.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287000" cy="594360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32120"/>
            <a:ext cx="9829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  <a:rtl val="1"/>
            </a:pPr>
            <a:r>
              <a:t>North Star: طلبات دوائية مكتملة وآمنة لكل صيدلية نشطة.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7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109728" cy="914400"/>
          </a:xfrm>
          <a:prstGeom prst="rect">
            <a:avLst/>
          </a:prstGeom>
          <a:solidFill>
            <a:srgbClr val="37C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" y="0"/>
            <a:ext cx="109728" cy="914400"/>
          </a:xfrm>
          <a:prstGeom prst="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"/>
            <a:ext cx="6400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37C2BE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"/>
            <a:ext cx="9829800" cy="530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2500" b="1">
                <a:solidFill>
                  <a:srgbClr val="FFFFFF"/>
                </a:solidFill>
                <a:latin typeface="Arial"/>
              </a:defRPr>
              <a:rtl val="1"/>
            </a:pPr>
            <a:r>
              <a:t>القرارات المطلوبة والخطوة التالية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900" b="0">
                <a:solidFill>
                  <a:srgbClr val="5B7074"/>
                </a:solidFill>
                <a:latin typeface="Arial"/>
              </a:defRPr>
            </a:pPr>
            <a:r>
              <a:t>صِلة دوائي  |  SILA 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28232"/>
            <a:ext cx="17830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900" b="1">
                <a:solidFill>
                  <a:srgbClr val="008991"/>
                </a:solidFill>
                <a:latin typeface="Arial"/>
              </a:defRPr>
              <a:rtl val="1"/>
            </a:pPr>
            <a:r>
              <a:t>دواؤك… يصلك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10287000" cy="4389120"/>
          </a:xfrm>
          <a:prstGeom prst="rect">
            <a:avLst/>
          </a:prstGeom>
          <a:noFill/>
        </p:spPr>
        <p:txBody>
          <a:bodyPr wrap="square" lIns="201168" rIns="164592" tIns="73152" bIns="73152">
            <a:spAutoFit/>
          </a:bodyPr>
          <a:lstStyle/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اعتماد عنقود الإطلاق، ميزانية اختبار، مسؤول الامتثال، 20 صيدلية مرساة، تاريخ pilot.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اجتماع أسبوعي Growth/Operations/Safety.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**قوتها:** ينهي العرض بطلبات قرار واضحة لا بشعار.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تأكيد المحافظات/المناطق التي تعمل فعلياً، وساعات كل صيدلية، وما إذا كان App Store متاحاً أم Google Play فقط.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مقابلة 10 مرضى، 10 مقدمي رعاية، 15 صيدلية، و10 كباتن؛ تسجيل الاقتباسات والعوائق لا الآراء العامة.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اختبار 20 اسماً دوائياً و10 صور وصفات واختلافات الإملاء واللهجة.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اعتماد سياسة الأدوية المقيدة، الرفض، الإرجاع، الخصوصية، الحوادث، وحفظ الحرارة مع مستشار محلي.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إنشاء صفحة هبوط/واتساب للصيدليات مع عرض تجريبي ومؤشر «اعتماد صيدلية» قابل للإثبات.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تركيب Firebase/analytics أو بديله مع أحداث القمع وUTM موحّدة.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 ] تنفيذ Pilot مدفوع صغير لمدة 14 يوماً، ومقارنة ثلاث رسائل؛ لا صرف ميزانية توسع قبل قراءة `time-to-first-offer` و`contribution/order`.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[موقع صِلة دوائي — المنتج والميزات](https://sillaiq.com/)</a:t>
            </a:r>
          </a:p>
          <a:p>
            <a:pPr algn="r" marL="420">
              <a:spcAft>
                <a:spcPts val="1200"/>
              </a:spcAft>
              <a:defRPr sz="1900">
                <a:solidFill>
                  <a:srgbClr val="1B3035"/>
                </a:solidFill>
                <a:latin typeface="Arial"/>
              </a:defRPr>
              <a:rtl val="1"/>
            </a:pPr>
            <a:r>
              <a:t>• [DataReportal — Digital 2025: Iraq](https://datareportal.com/reports/digital-2025-iraq)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287000" cy="594360"/>
          </a:xfrm>
          <a:prstGeom prst="roundRect">
            <a:avLst/>
          </a:prstGeom>
          <a:solidFill>
            <a:srgbClr val="E07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32120"/>
            <a:ext cx="9829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rial"/>
              </a:defRPr>
              <a:rtl val="1"/>
            </a:pPr>
            <a:r>
              <a:t>الخطوة التالية: إطلاق Pilot مدفوع لمدة 14 يوماً وقياس الطلبات الآمنة والمربحة.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